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C7C63B-539D-4A68-8159-F56721EADF4D}" v="33" dt="2026-06-03T15:47:12.953"/>
    <p1510:client id="{6564761B-32A5-4E65-B800-3DB21B9CD8E6}" v="125" dt="2026-06-02T11:27:32.563"/>
    <p1510:client id="{65BE12E9-D4A1-48BF-A2E8-1E9D2449EF86}" v="716" dt="2026-06-02T12:00:20.073"/>
    <p1510:client id="{691C816A-629D-B09A-1A64-9EBFD82DA6A9}" v="183" dt="2026-06-02T18:33:59.359"/>
    <p1510:client id="{FDC6519C-E002-EB75-D4A0-204EF3307210}" v="36" dt="2026-06-02T18:00:26.194"/>
  </p1510:revLst>
</p1510:revInfo>
</file>

<file path=ppt/tableStyles.xml><?xml version="1.0" encoding="utf-8"?>
<a:tblStyleLst xmlns:a="http://schemas.openxmlformats.org/drawingml/2006/main" def="{90651C3A-4460-11DB-9652-00E08161165F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LL LAPTOP" userId="7f4045fa1f452833" providerId="Windows Live" clId="Web-{FDC6519C-E002-EB75-D4A0-204EF3307210}"/>
    <pc:docChg chg="modSld">
      <pc:chgData name="DELL LAPTOP" userId="7f4045fa1f452833" providerId="Windows Live" clId="Web-{FDC6519C-E002-EB75-D4A0-204EF3307210}" dt="2026-06-02T18:00:23.100" v="27" actId="20577"/>
      <pc:docMkLst>
        <pc:docMk/>
      </pc:docMkLst>
      <pc:sldChg chg="modSp">
        <pc:chgData name="DELL LAPTOP" userId="7f4045fa1f452833" providerId="Windows Live" clId="Web-{FDC6519C-E002-EB75-D4A0-204EF3307210}" dt="2026-06-02T17:43:17.483" v="5" actId="20577"/>
        <pc:sldMkLst>
          <pc:docMk/>
          <pc:sldMk cId="328526394" sldId="261"/>
        </pc:sldMkLst>
        <pc:spChg chg="mod">
          <ac:chgData name="DELL LAPTOP" userId="7f4045fa1f452833" providerId="Windows Live" clId="Web-{FDC6519C-E002-EB75-D4A0-204EF3307210}" dt="2026-06-02T17:43:17.483" v="5" actId="20577"/>
          <ac:spMkLst>
            <pc:docMk/>
            <pc:sldMk cId="328526394" sldId="261"/>
            <ac:spMk id="2" creationId="{9BB86949-7ED1-C43B-B1E3-5122BB67A596}"/>
          </ac:spMkLst>
        </pc:spChg>
      </pc:sldChg>
      <pc:sldChg chg="addSp delSp modSp">
        <pc:chgData name="DELL LAPTOP" userId="7f4045fa1f452833" providerId="Windows Live" clId="Web-{FDC6519C-E002-EB75-D4A0-204EF3307210}" dt="2026-06-02T18:00:23.100" v="27" actId="20577"/>
        <pc:sldMkLst>
          <pc:docMk/>
          <pc:sldMk cId="2772501912" sldId="262"/>
        </pc:sldMkLst>
        <pc:spChg chg="add mod">
          <ac:chgData name="DELL LAPTOP" userId="7f4045fa1f452833" providerId="Windows Live" clId="Web-{FDC6519C-E002-EB75-D4A0-204EF3307210}" dt="2026-06-02T18:00:23.100" v="27" actId="20577"/>
          <ac:spMkLst>
            <pc:docMk/>
            <pc:sldMk cId="2772501912" sldId="262"/>
            <ac:spMk id="5" creationId="{8ADA6C47-F2D9-437A-ACBB-CB929B48B9BA}"/>
          </ac:spMkLst>
        </pc:spChg>
        <pc:picChg chg="del">
          <ac:chgData name="DELL LAPTOP" userId="7f4045fa1f452833" providerId="Windows Live" clId="Web-{FDC6519C-E002-EB75-D4A0-204EF3307210}" dt="2026-06-02T17:57:27.204" v="6"/>
          <ac:picMkLst>
            <pc:docMk/>
            <pc:sldMk cId="2772501912" sldId="262"/>
            <ac:picMk id="3" creationId="{11BF3590-52D3-DC9D-2C84-E66D9597D77D}"/>
          </ac:picMkLst>
        </pc:picChg>
        <pc:picChg chg="add mod modCrop">
          <ac:chgData name="DELL LAPTOP" userId="7f4045fa1f452833" providerId="Windows Live" clId="Web-{FDC6519C-E002-EB75-D4A0-204EF3307210}" dt="2026-06-02T17:58:07.736" v="10" actId="1076"/>
          <ac:picMkLst>
            <pc:docMk/>
            <pc:sldMk cId="2772501912" sldId="262"/>
            <ac:picMk id="4" creationId="{17DCAC4B-18B2-3147-58F1-277954267B70}"/>
          </ac:picMkLst>
        </pc:picChg>
      </pc:sldChg>
    </pc:docChg>
  </pc:docChgLst>
  <pc:docChgLst>
    <pc:chgData name="DELL LAPTOP" userId="7f4045fa1f452833" providerId="Windows Live" clId="Web-{691C816A-629D-B09A-1A64-9EBFD82DA6A9}"/>
    <pc:docChg chg="modSld">
      <pc:chgData name="DELL LAPTOP" userId="7f4045fa1f452833" providerId="Windows Live" clId="Web-{691C816A-629D-B09A-1A64-9EBFD82DA6A9}" dt="2026-06-02T18:33:59.359" v="158" actId="14100"/>
      <pc:docMkLst>
        <pc:docMk/>
      </pc:docMkLst>
      <pc:sldChg chg="addSp delSp modSp">
        <pc:chgData name="DELL LAPTOP" userId="7f4045fa1f452833" providerId="Windows Live" clId="Web-{691C816A-629D-B09A-1A64-9EBFD82DA6A9}" dt="2026-06-02T18:16:18.848" v="13" actId="14100"/>
        <pc:sldMkLst>
          <pc:docMk/>
          <pc:sldMk cId="0" sldId="263"/>
        </pc:sldMkLst>
        <pc:picChg chg="add mod">
          <ac:chgData name="DELL LAPTOP" userId="7f4045fa1f452833" providerId="Windows Live" clId="Web-{691C816A-629D-B09A-1A64-9EBFD82DA6A9}" dt="2026-06-02T18:16:18.848" v="13" actId="14100"/>
          <ac:picMkLst>
            <pc:docMk/>
            <pc:sldMk cId="0" sldId="263"/>
            <ac:picMk id="3" creationId="{090E695E-8D59-F635-0DF3-E17F1BBD4A33}"/>
          </ac:picMkLst>
        </pc:picChg>
        <pc:picChg chg="del">
          <ac:chgData name="DELL LAPTOP" userId="7f4045fa1f452833" providerId="Windows Live" clId="Web-{691C816A-629D-B09A-1A64-9EBFD82DA6A9}" dt="2026-06-02T18:14:31.234" v="0"/>
          <ac:picMkLst>
            <pc:docMk/>
            <pc:sldMk cId="0" sldId="263"/>
            <ac:picMk id="178" creationId="{00000000-0000-0000-0000-000000000000}"/>
          </ac:picMkLst>
        </pc:picChg>
      </pc:sldChg>
      <pc:sldChg chg="modSp">
        <pc:chgData name="DELL LAPTOP" userId="7f4045fa1f452833" providerId="Windows Live" clId="Web-{691C816A-629D-B09A-1A64-9EBFD82DA6A9}" dt="2026-06-02T18:20:20.294" v="30" actId="20577"/>
        <pc:sldMkLst>
          <pc:docMk/>
          <pc:sldMk cId="0" sldId="264"/>
        </pc:sldMkLst>
        <pc:spChg chg="mod">
          <ac:chgData name="DELL LAPTOP" userId="7f4045fa1f452833" providerId="Windows Live" clId="Web-{691C816A-629D-B09A-1A64-9EBFD82DA6A9}" dt="2026-06-02T18:20:20.294" v="30" actId="20577"/>
          <ac:spMkLst>
            <pc:docMk/>
            <pc:sldMk cId="0" sldId="264"/>
            <ac:spMk id="3" creationId="{322462E8-EB3A-DA7D-44CB-4E757803A755}"/>
          </ac:spMkLst>
        </pc:spChg>
      </pc:sldChg>
      <pc:sldChg chg="addSp delSp modSp">
        <pc:chgData name="DELL LAPTOP" userId="7f4045fa1f452833" providerId="Windows Live" clId="Web-{691C816A-629D-B09A-1A64-9EBFD82DA6A9}" dt="2026-06-02T18:27:48.048" v="136"/>
        <pc:sldMkLst>
          <pc:docMk/>
          <pc:sldMk cId="3764405840" sldId="265"/>
        </pc:sldMkLst>
        <pc:spChg chg="del mod">
          <ac:chgData name="DELL LAPTOP" userId="7f4045fa1f452833" providerId="Windows Live" clId="Web-{691C816A-629D-B09A-1A64-9EBFD82DA6A9}" dt="2026-06-02T18:21:13.889" v="34"/>
          <ac:spMkLst>
            <pc:docMk/>
            <pc:sldMk cId="3764405840" sldId="265"/>
            <ac:spMk id="3" creationId="{4A7608B5-9906-EFCF-959A-E89FC2E3EE19}"/>
          </ac:spMkLst>
        </pc:spChg>
        <pc:graphicFrameChg chg="add mod modGraphic">
          <ac:chgData name="DELL LAPTOP" userId="7f4045fa1f452833" providerId="Windows Live" clId="Web-{691C816A-629D-B09A-1A64-9EBFD82DA6A9}" dt="2026-06-02T18:27:48.048" v="136"/>
          <ac:graphicFrameMkLst>
            <pc:docMk/>
            <pc:sldMk cId="3764405840" sldId="265"/>
            <ac:graphicFrameMk id="4" creationId="{F579309F-916D-06D9-8927-6549728E23BE}"/>
          </ac:graphicFrameMkLst>
        </pc:graphicFrameChg>
      </pc:sldChg>
      <pc:sldChg chg="modSp">
        <pc:chgData name="DELL LAPTOP" userId="7f4045fa1f452833" providerId="Windows Live" clId="Web-{691C816A-629D-B09A-1A64-9EBFD82DA6A9}" dt="2026-06-02T18:33:59.359" v="158" actId="14100"/>
        <pc:sldMkLst>
          <pc:docMk/>
          <pc:sldMk cId="917964102" sldId="266"/>
        </pc:sldMkLst>
        <pc:spChg chg="mod">
          <ac:chgData name="DELL LAPTOP" userId="7f4045fa1f452833" providerId="Windows Live" clId="Web-{691C816A-629D-B09A-1A64-9EBFD82DA6A9}" dt="2026-06-02T18:33:59.359" v="158" actId="14100"/>
          <ac:spMkLst>
            <pc:docMk/>
            <pc:sldMk cId="917964102" sldId="266"/>
            <ac:spMk id="3" creationId="{ED65F54F-855A-0DB6-09A6-3212C5F7405B}"/>
          </ac:spMkLst>
        </pc:spChg>
      </pc:sldChg>
      <pc:sldChg chg="modSp">
        <pc:chgData name="DELL LAPTOP" userId="7f4045fa1f452833" providerId="Windows Live" clId="Web-{691C816A-629D-B09A-1A64-9EBFD82DA6A9}" dt="2026-06-02T18:32:08.917" v="157" actId="14100"/>
        <pc:sldMkLst>
          <pc:docMk/>
          <pc:sldMk cId="2136706720" sldId="268"/>
        </pc:sldMkLst>
        <pc:spChg chg="mod">
          <ac:chgData name="DELL LAPTOP" userId="7f4045fa1f452833" providerId="Windows Live" clId="Web-{691C816A-629D-B09A-1A64-9EBFD82DA6A9}" dt="2026-06-02T18:32:08.917" v="157" actId="14100"/>
          <ac:spMkLst>
            <pc:docMk/>
            <pc:sldMk cId="2136706720" sldId="268"/>
            <ac:spMk id="279" creationId="{EAFA16CB-0A72-5AC5-69A0-ABF4A752B43F}"/>
          </ac:spMkLst>
        </pc:spChg>
      </pc:sldChg>
    </pc:docChg>
  </pc:docChgLst>
  <pc:docChgLst>
    <pc:chgData name="DELL LAPTOP" userId="7f4045fa1f452833" providerId="Windows Live" clId="Web-{65BE12E9-D4A1-48BF-A2E8-1E9D2449EF86}"/>
    <pc:docChg chg="modSld">
      <pc:chgData name="DELL LAPTOP" userId="7f4045fa1f452833" providerId="Windows Live" clId="Web-{65BE12E9-D4A1-48BF-A2E8-1E9D2449EF86}" dt="2026-06-02T12:00:18.651" v="478" actId="20577"/>
      <pc:docMkLst>
        <pc:docMk/>
      </pc:docMkLst>
      <pc:sldChg chg="modSp">
        <pc:chgData name="DELL LAPTOP" userId="7f4045fa1f452833" providerId="Windows Live" clId="Web-{65BE12E9-D4A1-48BF-A2E8-1E9D2449EF86}" dt="2026-06-02T11:42:21.972" v="174" actId="14100"/>
        <pc:sldMkLst>
          <pc:docMk/>
          <pc:sldMk cId="2952584201" sldId="258"/>
        </pc:sldMkLst>
        <pc:spChg chg="mod">
          <ac:chgData name="DELL LAPTOP" userId="7f4045fa1f452833" providerId="Windows Live" clId="Web-{65BE12E9-D4A1-48BF-A2E8-1E9D2449EF86}" dt="2026-06-02T11:42:21.972" v="174" actId="14100"/>
          <ac:spMkLst>
            <pc:docMk/>
            <pc:sldMk cId="2952584201" sldId="258"/>
            <ac:spMk id="2" creationId="{C6F6745E-14BA-0766-CE1E-32E29663832D}"/>
          </ac:spMkLst>
        </pc:spChg>
      </pc:sldChg>
      <pc:sldChg chg="addSp modSp">
        <pc:chgData name="DELL LAPTOP" userId="7f4045fa1f452833" providerId="Windows Live" clId="Web-{65BE12E9-D4A1-48BF-A2E8-1E9D2449EF86}" dt="2026-06-02T11:50:08.394" v="399"/>
        <pc:sldMkLst>
          <pc:docMk/>
          <pc:sldMk cId="4218467252" sldId="259"/>
        </pc:sldMkLst>
        <pc:spChg chg="mod">
          <ac:chgData name="DELL LAPTOP" userId="7f4045fa1f452833" providerId="Windows Live" clId="Web-{65BE12E9-D4A1-48BF-A2E8-1E9D2449EF86}" dt="2026-06-02T11:45:37.088" v="204" actId="20577"/>
          <ac:spMkLst>
            <pc:docMk/>
            <pc:sldMk cId="4218467252" sldId="259"/>
            <ac:spMk id="2" creationId="{07CFCB91-EF22-EB8C-5B0D-4D46021F0245}"/>
          </ac:spMkLst>
        </pc:spChg>
        <pc:graphicFrameChg chg="add mod modGraphic">
          <ac:chgData name="DELL LAPTOP" userId="7f4045fa1f452833" providerId="Windows Live" clId="Web-{65BE12E9-D4A1-48BF-A2E8-1E9D2449EF86}" dt="2026-06-02T11:50:08.394" v="399"/>
          <ac:graphicFrameMkLst>
            <pc:docMk/>
            <pc:sldMk cId="4218467252" sldId="259"/>
            <ac:graphicFrameMk id="4" creationId="{96FB6EE7-10A2-436E-8ABF-7EA8641625C5}"/>
          </ac:graphicFrameMkLst>
        </pc:graphicFrameChg>
      </pc:sldChg>
      <pc:sldChg chg="modSp">
        <pc:chgData name="DELL LAPTOP" userId="7f4045fa1f452833" providerId="Windows Live" clId="Web-{65BE12E9-D4A1-48BF-A2E8-1E9D2449EF86}" dt="2026-06-02T12:00:18.651" v="478" actId="20577"/>
        <pc:sldMkLst>
          <pc:docMk/>
          <pc:sldMk cId="2290294991" sldId="260"/>
        </pc:sldMkLst>
        <pc:spChg chg="mod">
          <ac:chgData name="DELL LAPTOP" userId="7f4045fa1f452833" providerId="Windows Live" clId="Web-{65BE12E9-D4A1-48BF-A2E8-1E9D2449EF86}" dt="2026-06-02T12:00:18.651" v="478" actId="20577"/>
          <ac:spMkLst>
            <pc:docMk/>
            <pc:sldMk cId="2290294991" sldId="260"/>
            <ac:spMk id="2" creationId="{4A1BF701-ABCA-4DF0-8330-B6AF71EF8E39}"/>
          </ac:spMkLst>
        </pc:spChg>
      </pc:sldChg>
    </pc:docChg>
  </pc:docChgLst>
  <pc:docChgLst>
    <pc:chgData name="DELL LAPTOP" userId="7f4045fa1f452833" providerId="Windows Live" clId="Web-{6564761B-32A5-4E65-B800-3DB21B9CD8E6}"/>
    <pc:docChg chg="modSld">
      <pc:chgData name="DELL LAPTOP" userId="7f4045fa1f452833" providerId="Windows Live" clId="Web-{6564761B-32A5-4E65-B800-3DB21B9CD8E6}" dt="2026-06-02T11:27:15.157" v="106" actId="20577"/>
      <pc:docMkLst>
        <pc:docMk/>
      </pc:docMkLst>
      <pc:sldChg chg="modSp">
        <pc:chgData name="DELL LAPTOP" userId="7f4045fa1f452833" providerId="Windows Live" clId="Web-{6564761B-32A5-4E65-B800-3DB21B9CD8E6}" dt="2026-06-02T11:20:18.518" v="103" actId="14100"/>
        <pc:sldMkLst>
          <pc:docMk/>
          <pc:sldMk cId="0" sldId="257"/>
        </pc:sldMkLst>
        <pc:spChg chg="mod">
          <ac:chgData name="DELL LAPTOP" userId="7f4045fa1f452833" providerId="Windows Live" clId="Web-{6564761B-32A5-4E65-B800-3DB21B9CD8E6}" dt="2026-06-02T11:17:16.732" v="5" actId="20577"/>
          <ac:spMkLst>
            <pc:docMk/>
            <pc:sldMk cId="0" sldId="257"/>
            <ac:spMk id="4" creationId="{A828B9EF-C084-F5D4-CA27-75AF7D995640}"/>
          </ac:spMkLst>
        </pc:spChg>
        <pc:spChg chg="mod">
          <ac:chgData name="DELL LAPTOP" userId="7f4045fa1f452833" providerId="Windows Live" clId="Web-{6564761B-32A5-4E65-B800-3DB21B9CD8E6}" dt="2026-06-02T11:20:18.518" v="103" actId="14100"/>
          <ac:spMkLst>
            <pc:docMk/>
            <pc:sldMk cId="0" sldId="257"/>
            <ac:spMk id="7" creationId="{3D723CA3-EC2D-165A-F109-3759C4E9C8A4}"/>
          </ac:spMkLst>
        </pc:spChg>
        <pc:graphicFrameChg chg="mod modGraphic">
          <ac:chgData name="DELL LAPTOP" userId="7f4045fa1f452833" providerId="Windows Live" clId="Web-{6564761B-32A5-4E65-B800-3DB21B9CD8E6}" dt="2026-06-02T11:18:48.985" v="96"/>
          <ac:graphicFrameMkLst>
            <pc:docMk/>
            <pc:sldMk cId="0" sldId="257"/>
            <ac:graphicFrameMk id="96" creationId="{00000000-0000-0000-0000-000000000000}"/>
          </ac:graphicFrameMkLst>
        </pc:graphicFrameChg>
      </pc:sldChg>
      <pc:sldChg chg="modSp">
        <pc:chgData name="DELL LAPTOP" userId="7f4045fa1f452833" providerId="Windows Live" clId="Web-{6564761B-32A5-4E65-B800-3DB21B9CD8E6}" dt="2026-06-02T11:27:15.157" v="106" actId="20577"/>
        <pc:sldMkLst>
          <pc:docMk/>
          <pc:sldMk cId="2952584201" sldId="258"/>
        </pc:sldMkLst>
        <pc:spChg chg="mod">
          <ac:chgData name="DELL LAPTOP" userId="7f4045fa1f452833" providerId="Windows Live" clId="Web-{6564761B-32A5-4E65-B800-3DB21B9CD8E6}" dt="2026-06-02T11:27:15.157" v="106" actId="20577"/>
          <ac:spMkLst>
            <pc:docMk/>
            <pc:sldMk cId="2952584201" sldId="258"/>
            <ac:spMk id="2" creationId="{C6F6745E-14BA-0766-CE1E-32E29663832D}"/>
          </ac:spMkLst>
        </pc:spChg>
      </pc:sldChg>
    </pc:docChg>
  </pc:docChgLst>
  <pc:docChgLst>
    <pc:chgData name="DELL LAPTOP" userId="7f4045fa1f452833" providerId="Windows Live" clId="Web-{5DC7C63B-539D-4A68-8159-F56721EADF4D}"/>
    <pc:docChg chg="modSld">
      <pc:chgData name="DELL LAPTOP" userId="7f4045fa1f452833" providerId="Windows Live" clId="Web-{5DC7C63B-539D-4A68-8159-F56721EADF4D}" dt="2026-06-03T15:46:48.749" v="22" actId="20577"/>
      <pc:docMkLst>
        <pc:docMk/>
      </pc:docMkLst>
      <pc:sldChg chg="addSp delSp modSp">
        <pc:chgData name="DELL LAPTOP" userId="7f4045fa1f452833" providerId="Windows Live" clId="Web-{5DC7C63B-539D-4A68-8159-F56721EADF4D}" dt="2026-06-03T15:25:24.573" v="4" actId="14100"/>
        <pc:sldMkLst>
          <pc:docMk/>
          <pc:sldMk cId="0" sldId="257"/>
        </pc:sldMkLst>
        <pc:picChg chg="add mod">
          <ac:chgData name="DELL LAPTOP" userId="7f4045fa1f452833" providerId="Windows Live" clId="Web-{5DC7C63B-539D-4A68-8159-F56721EADF4D}" dt="2026-06-03T15:25:24.573" v="4" actId="14100"/>
          <ac:picMkLst>
            <pc:docMk/>
            <pc:sldMk cId="0" sldId="257"/>
            <ac:picMk id="2" creationId="{1090E7A3-27F1-065A-C425-A9F4E3DD39DB}"/>
          </ac:picMkLst>
        </pc:picChg>
        <pc:picChg chg="del">
          <ac:chgData name="DELL LAPTOP" userId="7f4045fa1f452833" providerId="Windows Live" clId="Web-{5DC7C63B-539D-4A68-8159-F56721EADF4D}" dt="2026-06-03T15:24:41.103" v="0"/>
          <ac:picMkLst>
            <pc:docMk/>
            <pc:sldMk cId="0" sldId="257"/>
            <ac:picMk id="98" creationId="{00000000-0000-0000-0000-000000000000}"/>
          </ac:picMkLst>
        </pc:picChg>
      </pc:sldChg>
      <pc:sldChg chg="addSp modSp">
        <pc:chgData name="DELL LAPTOP" userId="7f4045fa1f452833" providerId="Windows Live" clId="Web-{5DC7C63B-539D-4A68-8159-F56721EADF4D}" dt="2026-06-03T15:46:48.749" v="22" actId="20577"/>
        <pc:sldMkLst>
          <pc:docMk/>
          <pc:sldMk cId="2115484872" sldId="267"/>
        </pc:sldMkLst>
        <pc:spChg chg="add mod">
          <ac:chgData name="DELL LAPTOP" userId="7f4045fa1f452833" providerId="Windows Live" clId="Web-{5DC7C63B-539D-4A68-8159-F56721EADF4D}" dt="2026-06-03T15:46:48.749" v="22" actId="20577"/>
          <ac:spMkLst>
            <pc:docMk/>
            <pc:sldMk cId="2115484872" sldId="267"/>
            <ac:spMk id="2" creationId="{2E975687-1FC4-6AE7-EF42-673C341B9D78}"/>
          </ac:spMkLst>
        </pc:spChg>
        <pc:spChg chg="mod">
          <ac:chgData name="DELL LAPTOP" userId="7f4045fa1f452833" providerId="Windows Live" clId="Web-{5DC7C63B-539D-4A68-8159-F56721EADF4D}" dt="2026-06-03T15:45:47.623" v="5" actId="20577"/>
          <ac:spMkLst>
            <pc:docMk/>
            <pc:sldMk cId="2115484872" sldId="267"/>
            <ac:spMk id="279" creationId="{15507A2F-9304-7475-5C74-2BAA93879CF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0A8E369-C804-D8D2-383B-03E8A547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68FC73D-F867-8E13-0025-1B4081892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49581B4-9B47-7782-B749-078618A6E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5151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harathivarma08-netizen/Course-Content-Simplification-Agent.git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</a:t>
            </a:r>
            <a:r>
              <a:rPr lang="en-US" b="1" i="1" dirty="0" err="1"/>
              <a:t>LangFlow</a:t>
            </a:r>
            <a:r>
              <a:rPr lang="en-US" b="1" i="1" dirty="0"/>
              <a:t>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3353964778"/>
              </p:ext>
            </p:extLst>
          </p:nvPr>
        </p:nvGraphicFramePr>
        <p:xfrm>
          <a:off x="690562" y="2595562"/>
          <a:ext cx="10384027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282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5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005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/>
                        <a:t>K. SINDHU BHARATHI</a:t>
                      </a:r>
                      <a:endParaRPr sz="1600" b="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bharathivarma08@gmail.com</a:t>
                      </a:r>
                      <a:endParaRPr sz="14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9177206229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Domain of  Project – </a:t>
            </a:r>
            <a:r>
              <a:rPr lang="en-US" sz="2400"/>
              <a:t>Education Technology (EdTech)</a:t>
            </a:r>
            <a:endParaRPr lang="en-US" sz="2400" b="1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134725" y="551965"/>
            <a:ext cx="9652614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2400" dirty="0" err="1"/>
              <a:t>EduBot</a:t>
            </a:r>
            <a:r>
              <a:rPr lang="en-US" sz="2400" dirty="0"/>
              <a:t> — Adaptive AI Learning Companion</a:t>
            </a:r>
          </a:p>
          <a:p>
            <a:endParaRPr lang="en-US" sz="2400" b="1" dirty="0"/>
          </a:p>
        </p:txBody>
      </p:sp>
      <p:pic>
        <p:nvPicPr>
          <p:cNvPr id="2" name="Picture 1" descr="A person wearing a blue shirt&#10;&#10;AI-generated content may be incorrect.">
            <a:extLst>
              <a:ext uri="{FF2B5EF4-FFF2-40B4-BE49-F238E27FC236}">
                <a16:creationId xmlns:a16="http://schemas.microsoft.com/office/drawing/2014/main" id="{1090E7A3-27F1-065A-C425-A9F4E3DD3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3904" y="3639402"/>
            <a:ext cx="750670" cy="898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61555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fontAlgn="base"/>
            <a:r>
              <a:rPr lang="en-US" sz="1600" b="1"/>
              <a:t>Problem Statement : Course Content Simplification Agent</a:t>
            </a:r>
            <a:endParaRPr lang="en-US" sz="1600" b="1" dirty="0"/>
          </a:p>
          <a:p>
            <a:pPr fontAlgn="base"/>
            <a:endParaRPr lang="en-US" sz="1600" b="1" dirty="0"/>
          </a:p>
          <a:p>
            <a:pPr fontAlgn="base"/>
            <a:r>
              <a:rPr lang="en-US" sz="1600" b="1" dirty="0"/>
              <a:t>The Challenge</a:t>
            </a:r>
            <a:r>
              <a:rPr lang="en-US" sz="1600" dirty="0"/>
              <a:t> </a:t>
            </a:r>
          </a:p>
          <a:p>
            <a:r>
              <a:rPr lang="en-US" sz="1600" dirty="0"/>
              <a:t>Traditional educational platforms provide the same explanation to every student, regardless of their knowledge level or learning style. Students struggle with jargon-heavy textbooks, complex explanations, and</a:t>
            </a:r>
            <a:r>
              <a:rPr lang="en-US" sz="1600" b="1" dirty="0"/>
              <a:t> lack of personalized guidance</a:t>
            </a:r>
            <a:r>
              <a:rPr lang="en-US" sz="1600" dirty="0"/>
              <a:t>. Without adaptive, </a:t>
            </a:r>
            <a:r>
              <a:rPr lang="en-US" sz="1600" b="1" dirty="0"/>
              <a:t>real-time</a:t>
            </a:r>
            <a:r>
              <a:rPr lang="en-US" sz="1600" dirty="0"/>
              <a:t> </a:t>
            </a:r>
            <a:r>
              <a:rPr lang="en-US" sz="1600" b="1" dirty="0"/>
              <a:t>support</a:t>
            </a:r>
            <a:r>
              <a:rPr lang="en-US" sz="1600" dirty="0"/>
              <a:t>, learners fail to understand core concepts, struggle in exams, and lose motivation.</a:t>
            </a:r>
          </a:p>
          <a:p>
            <a:pPr fontAlgn="base"/>
            <a:endParaRPr lang="en-US" sz="1600" dirty="0"/>
          </a:p>
          <a:p>
            <a:pPr algn="just"/>
            <a:r>
              <a:rPr lang="en-US" sz="1600" b="1" dirty="0"/>
              <a:t>The Objective — Build </a:t>
            </a:r>
            <a:r>
              <a:rPr lang="en-US" sz="1600" b="1" dirty="0" err="1"/>
              <a:t>EduBot</a:t>
            </a:r>
            <a:r>
              <a:rPr lang="en-US" sz="1600" b="1" dirty="0"/>
              <a:t>, an AI-powered adaptive learning agent that:</a:t>
            </a:r>
            <a:endParaRPr lang="en-US" sz="1600" dirty="0"/>
          </a:p>
          <a:p>
            <a:pPr marL="285750" indent="-285750" algn="just">
              <a:buChar char="•"/>
            </a:pPr>
            <a:r>
              <a:rPr lang="en-US" sz="1600" b="1"/>
              <a:t>Personalized Explanations</a:t>
            </a:r>
            <a:r>
              <a:rPr lang="en-US" sz="1600"/>
              <a:t> — Adapts concept explanations based on student level and learning style.</a:t>
            </a:r>
            <a:endParaRPr lang="en-US" sz="1600" dirty="0"/>
          </a:p>
          <a:p>
            <a:pPr marL="285750" indent="-285750" algn="just">
              <a:buChar char="•"/>
            </a:pPr>
            <a:r>
              <a:rPr lang="en-US" sz="1600" b="1"/>
              <a:t>Educational RAG Retrieval</a:t>
            </a:r>
            <a:r>
              <a:rPr lang="en-US" sz="1600"/>
              <a:t> — Fetches and summarizes trusted educational content from verified sources using RAG pipeline</a:t>
            </a:r>
            <a:endParaRPr lang="en-US" sz="1600" dirty="0"/>
          </a:p>
          <a:p>
            <a:pPr marL="285750" indent="-285750" algn="just">
              <a:buChar char="•"/>
            </a:pPr>
            <a:r>
              <a:rPr lang="en-US" sz="1600" b="1"/>
              <a:t>Doubt Solving</a:t>
            </a:r>
            <a:r>
              <a:rPr lang="en-US" sz="1600"/>
              <a:t> — Allows students to ask follow-up questions and receive simpler, context-aware clarifications</a:t>
            </a:r>
            <a:endParaRPr lang="en-US" sz="1600" dirty="0"/>
          </a:p>
          <a:p>
            <a:pPr marL="285750" indent="-285750" algn="just">
              <a:buChar char="•"/>
            </a:pPr>
            <a:r>
              <a:rPr lang="en-US" sz="1600" b="1"/>
              <a:t>Exam Preparation Focus</a:t>
            </a:r>
            <a:r>
              <a:rPr lang="en-US" sz="1600"/>
              <a:t> — Generates MCQ quizzes, revision notes, important keywords, probable exam questions</a:t>
            </a:r>
            <a:endParaRPr lang="en-US" sz="1600" dirty="0"/>
          </a:p>
          <a:p>
            <a:pPr marL="285750" indent="-285750" algn="just">
              <a:buChar char="•"/>
            </a:pPr>
            <a:r>
              <a:rPr lang="en-US" sz="1600" b="1"/>
              <a:t>Multi-Agent System:</a:t>
            </a:r>
            <a:r>
              <a:rPr lang="en-US" sz="1600" dirty="0"/>
              <a:t> </a:t>
            </a:r>
          </a:p>
          <a:p>
            <a:pPr marL="285750" indent="-285750" algn="just">
              <a:buChar char="•"/>
            </a:pPr>
            <a:r>
              <a:rPr lang="en-US" sz="1600"/>
              <a:t> Explanation Agent (adaptive concept teaching)</a:t>
            </a:r>
            <a:endParaRPr lang="en-US" sz="1600" dirty="0"/>
          </a:p>
          <a:p>
            <a:pPr marL="285750" indent="-285750" algn="just">
              <a:buChar char="•"/>
            </a:pPr>
            <a:r>
              <a:rPr lang="en-US" sz="1600"/>
              <a:t>Doubt Resolution Agent (confusion detection and simplification)</a:t>
            </a:r>
            <a:endParaRPr lang="en-US" sz="1600" dirty="0"/>
          </a:p>
          <a:p>
            <a:pPr marL="285750" indent="-285750" algn="just">
              <a:buChar char="•"/>
            </a:pPr>
            <a:r>
              <a:rPr lang="en-US" sz="1600"/>
              <a:t>Quiz Agent (MCQ generation and scoring)</a:t>
            </a:r>
            <a:endParaRPr lang="en-US" sz="1600" dirty="0"/>
          </a:p>
          <a:p>
            <a:pPr marL="285750" indent="-285750" algn="just">
              <a:buChar char="•"/>
            </a:pPr>
            <a:r>
              <a:rPr lang="en-US" sz="1600"/>
              <a:t>Revision Agent (key points and exam preparation)</a:t>
            </a:r>
            <a:endParaRPr lang="en-US" sz="1600" dirty="0"/>
          </a:p>
          <a:p>
            <a:pPr marL="285750" indent="-285750" algn="just">
              <a:buChar char="•"/>
            </a:pPr>
            <a:r>
              <a:rPr lang="en-US" sz="1600" b="1"/>
              <a:t>Progress Tracking</a:t>
            </a:r>
            <a:r>
              <a:rPr lang="en-US" sz="1600"/>
              <a:t> — Tracks quiz scores, weak areas, and learning history across sessions. </a:t>
            </a:r>
            <a:endParaRPr lang="en-US" sz="1600" dirty="0"/>
          </a:p>
          <a:p>
            <a:pPr marL="285750" indent="-285750" algn="just">
              <a:buChar char="•"/>
            </a:pPr>
            <a:r>
              <a:rPr lang="en-US" sz="1600"/>
              <a:t>Build an adaptive AI tutor using IBM Granite.</a:t>
            </a:r>
            <a:endParaRPr lang="en-US" sz="1600" dirty="0"/>
          </a:p>
          <a:p>
            <a:pPr marL="285750" indent="-285750">
              <a:buChar char="•"/>
            </a:pPr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A77E81F-021A-57FB-C709-7E707564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CFCB91-EF22-EB8C-5B0D-4D46021F0245}"/>
              </a:ext>
            </a:extLst>
          </p:cNvPr>
          <p:cNvSpPr txBox="1"/>
          <p:nvPr/>
        </p:nvSpPr>
        <p:spPr>
          <a:xfrm>
            <a:off x="667512" y="1165753"/>
            <a:ext cx="10607040" cy="25545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fontAlgn="base"/>
            <a:endParaRPr lang="en-US" b="1" dirty="0"/>
          </a:p>
          <a:p>
            <a:pPr fontAlgn="base"/>
            <a:r>
              <a:rPr lang="en-IN" dirty="0"/>
              <a:t>I used </a:t>
            </a:r>
            <a:r>
              <a:rPr lang="en-IN" dirty="0" err="1">
                <a:highlight>
                  <a:srgbClr val="FFFF00"/>
                </a:highlight>
              </a:rPr>
              <a:t>LangFlow</a:t>
            </a:r>
            <a:r>
              <a:rPr lang="en-IN" dirty="0">
                <a:highlight>
                  <a:srgbClr val="FFFF00"/>
                </a:highlight>
              </a:rPr>
              <a:t> + IBM watsonx.ai + Granite Models (with </a:t>
            </a:r>
            <a:r>
              <a:rPr lang="en-IN" dirty="0" err="1">
                <a:highlight>
                  <a:srgbClr val="FFFF00"/>
                </a:highlight>
              </a:rPr>
              <a:t>Streamlit</a:t>
            </a:r>
            <a:r>
              <a:rPr lang="en-IN" dirty="0">
                <a:highlight>
                  <a:srgbClr val="FFFF00"/>
                </a:highlight>
              </a:rPr>
              <a:t> Frontend)</a:t>
            </a:r>
          </a:p>
          <a:p>
            <a:endParaRPr lang="en-IN" dirty="0">
              <a:highlight>
                <a:srgbClr val="FFFF00"/>
              </a:highlight>
            </a:endParaRPr>
          </a:p>
          <a:p>
            <a:r>
              <a:rPr lang="en-IN" sz="1600" b="1" dirty="0"/>
              <a:t>Technolo</a:t>
            </a:r>
            <a:r>
              <a:rPr lang="en-IN" sz="1600" b="1"/>
              <a:t>gies Used:</a:t>
            </a:r>
            <a:endParaRPr lang="en-IN" sz="1600" b="1" dirty="0"/>
          </a:p>
          <a:p>
            <a:endParaRPr lang="en-IN" sz="1600" b="1" dirty="0"/>
          </a:p>
          <a:p>
            <a:endParaRPr lang="en-IN" sz="1600" b="1" dirty="0"/>
          </a:p>
          <a:p>
            <a:pPr fontAlgn="base"/>
            <a:endParaRPr lang="en-IN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dirty="0"/>
          </a:p>
          <a:p>
            <a:pPr fontAlgn="base"/>
            <a:endParaRPr lang="en-IN" dirty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926A1-0833-2949-651F-2AAB4D91A8C9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 </a:t>
            </a:r>
            <a:endParaRPr lang="en-IN" sz="24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6FB6EE7-10A2-436E-8ABF-7EA8641625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0011640"/>
              </p:ext>
            </p:extLst>
          </p:nvPr>
        </p:nvGraphicFramePr>
        <p:xfrm>
          <a:off x="1095374" y="2357437"/>
          <a:ext cx="8168639" cy="3414743"/>
        </p:xfrm>
        <a:graphic>
          <a:graphicData uri="http://schemas.openxmlformats.org/drawingml/2006/table">
            <a:tbl>
              <a:tblPr firstRow="1" bandRow="1"/>
              <a:tblGrid>
                <a:gridCol w="3804313">
                  <a:extLst>
                    <a:ext uri="{9D8B030D-6E8A-4147-A177-3AD203B41FA5}">
                      <a16:colId xmlns:a16="http://schemas.microsoft.com/office/drawing/2014/main" val="1592453057"/>
                    </a:ext>
                  </a:extLst>
                </a:gridCol>
                <a:gridCol w="4364326">
                  <a:extLst>
                    <a:ext uri="{9D8B030D-6E8A-4147-A177-3AD203B41FA5}">
                      <a16:colId xmlns:a16="http://schemas.microsoft.com/office/drawing/2014/main" val="4206698525"/>
                    </a:ext>
                  </a:extLst>
                </a:gridCol>
              </a:tblGrid>
              <a:tr h="358253">
                <a:tc>
                  <a:txBody>
                    <a:bodyPr/>
                    <a:lstStyle/>
                    <a:p>
                      <a:r>
                        <a:rPr lang="en-US" sz="1600" b="1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Technology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974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latin typeface="Arial"/>
                          <a:cs typeface="Arial"/>
                        </a:rPr>
                        <a:t>IBM Granite 4 (</a:t>
                      </a:r>
                      <a:r>
                        <a:rPr lang="en-US" sz="1400" b="0" i="0" u="none" strike="noStrike" noProof="0" dirty="0" err="1">
                          <a:latin typeface="Arial"/>
                          <a:cs typeface="Arial"/>
                        </a:rPr>
                        <a:t>ibm</a:t>
                      </a:r>
                      <a:r>
                        <a:rPr lang="en-US" sz="1400" b="0" i="0" u="none" strike="noStrike" noProof="0" dirty="0">
                          <a:latin typeface="Arial"/>
                          <a:cs typeface="Arial"/>
                        </a:rPr>
                        <a:t>/granite-4-h-small)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1970920"/>
                  </a:ext>
                </a:extLst>
              </a:tr>
              <a:tr h="460611">
                <a:tc>
                  <a:txBody>
                    <a:bodyPr/>
                    <a:lstStyle/>
                    <a:p>
                      <a:r>
                        <a:rPr lang="en-US"/>
                        <a:t>AI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IBM Watsonx.ai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8363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AI </a:t>
                      </a:r>
                      <a:r>
                        <a:rPr lang="en-US" dirty="0" err="1"/>
                        <a:t>Frame 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 err="1">
                          <a:latin typeface="Arial"/>
                          <a:cs typeface="Arial"/>
                        </a:rPr>
                        <a:t>LangChain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9940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Retrieval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RAG (Retrieval-Augmented Generation)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088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Vector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 err="1">
                          <a:latin typeface="Arial"/>
                          <a:cs typeface="Arial"/>
                        </a:rPr>
                        <a:t>ChromaDB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2771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 err="1">
                          <a:latin typeface="Arial"/>
                          <a:cs typeface="Arial"/>
                        </a:rPr>
                        <a:t>Streamlit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4627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Python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800828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Embeddings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 err="1">
                          <a:latin typeface="Arial"/>
                          <a:cs typeface="Arial"/>
                        </a:rPr>
                        <a:t>HuggingFace</a:t>
                      </a:r>
                      <a:r>
                        <a:rPr lang="en-US" sz="1400" b="0" i="0" u="none" strike="noStrike" noProof="0" dirty="0">
                          <a:latin typeface="Arial"/>
                          <a:cs typeface="Arial"/>
                        </a:rPr>
                        <a:t> sentence-transformers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978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8467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56323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fontAlgn="base"/>
            <a:endParaRPr lang="en-US" b="1" dirty="0"/>
          </a:p>
          <a:p>
            <a:r>
              <a:rPr lang="en-US" b="1"/>
              <a:t>Proposed Solution:</a:t>
            </a:r>
            <a:r>
              <a:rPr lang="en-US" sz="1600" b="1" dirty="0"/>
              <a:t> </a:t>
            </a:r>
            <a:r>
              <a:rPr lang="en-US" sz="1600" err="1"/>
              <a:t>EduBot</a:t>
            </a:r>
            <a:r>
              <a:rPr lang="en-US" sz="1600"/>
              <a:t> — Adaptive AI Learning Companion</a:t>
            </a:r>
            <a:endParaRPr lang="en-US" sz="1600" b="1" dirty="0"/>
          </a:p>
          <a:p>
            <a:r>
              <a:rPr lang="en-US" sz="1600" dirty="0" err="1"/>
              <a:t>EduBot</a:t>
            </a:r>
            <a:r>
              <a:rPr lang="en-US" sz="1600" dirty="0"/>
              <a:t> is an </a:t>
            </a:r>
            <a:r>
              <a:rPr lang="en-US" sz="1600" b="1" dirty="0"/>
              <a:t>AI-powered adaptive learning platform</a:t>
            </a:r>
            <a:r>
              <a:rPr lang="en-US" sz="1600" dirty="0"/>
              <a:t> built using </a:t>
            </a:r>
            <a:r>
              <a:rPr lang="en-US" sz="1600" b="1" dirty="0" err="1"/>
              <a:t>LangChain</a:t>
            </a:r>
            <a:r>
              <a:rPr lang="en-US" sz="1600" b="1" dirty="0"/>
              <a:t>, IBM Watsonx.ai, and IBM Granite 4</a:t>
            </a:r>
            <a:r>
              <a:rPr lang="en-US" sz="1600" dirty="0"/>
              <a:t> to deliver personalized educational guidance. The system addresses the core challenge of one-size-fits-all education by adapting explanations to each student's </a:t>
            </a:r>
            <a:r>
              <a:rPr lang="en-US" sz="1600" b="1" dirty="0"/>
              <a:t>knowledge level and learning preference</a:t>
            </a:r>
            <a:r>
              <a:rPr lang="en-US" sz="1600" dirty="0"/>
              <a:t>.</a:t>
            </a:r>
          </a:p>
          <a:p>
            <a:r>
              <a:rPr lang="en-US" sz="1600" dirty="0"/>
              <a:t>At its core, </a:t>
            </a:r>
            <a:r>
              <a:rPr lang="en-US" sz="1600" dirty="0" err="1"/>
              <a:t>EduBot</a:t>
            </a:r>
            <a:r>
              <a:rPr lang="en-US" sz="1600" dirty="0"/>
              <a:t> uses a Retrieval-Augmented Generation (</a:t>
            </a:r>
            <a:r>
              <a:rPr lang="en-US" sz="1600" b="1" dirty="0"/>
              <a:t>RAG</a:t>
            </a:r>
            <a:r>
              <a:rPr lang="en-US" sz="1600" dirty="0"/>
              <a:t>) pipeline to retrieve trusted educational content from verified sources. This content is embedded and stored in </a:t>
            </a:r>
            <a:r>
              <a:rPr lang="en-US" sz="1600" b="1" dirty="0" err="1"/>
              <a:t>ChromaDB</a:t>
            </a:r>
            <a:r>
              <a:rPr lang="en-US" sz="1600" dirty="0"/>
              <a:t>, enabling the system to retrieve contextually accurate information before generating responses through </a:t>
            </a:r>
            <a:r>
              <a:rPr lang="en-US" sz="1600" b="1" dirty="0"/>
              <a:t>IBM Granite 4</a:t>
            </a:r>
            <a:r>
              <a:rPr lang="en-US" sz="1600" dirty="0"/>
              <a:t>.</a:t>
            </a:r>
          </a:p>
          <a:p>
            <a:r>
              <a:rPr lang="en-US" sz="1600" dirty="0"/>
              <a:t>The system has </a:t>
            </a:r>
            <a:r>
              <a:rPr lang="en-US" sz="1600" b="1" dirty="0"/>
              <a:t>FOUR</a:t>
            </a:r>
            <a:r>
              <a:rPr lang="en-US" sz="1600"/>
              <a:t> key agents:</a:t>
            </a:r>
          </a:p>
          <a:p>
            <a:pPr marL="285750" indent="-285750">
              <a:buChar char="•"/>
            </a:pPr>
            <a:r>
              <a:rPr lang="en-US" sz="1600" b="1"/>
              <a:t>Explanation</a:t>
            </a:r>
            <a:r>
              <a:rPr lang="en-US" sz="1600" b="1" dirty="0"/>
              <a:t> </a:t>
            </a:r>
            <a:r>
              <a:rPr lang="en-US" sz="1600" b="1" dirty="0" err="1"/>
              <a:t>Agent:</a:t>
            </a:r>
            <a:r>
              <a:rPr lang="en-US" sz="1600" dirty="0"/>
              <a:t> adapts concept teaching to the student's level &amp; style; </a:t>
            </a:r>
            <a:endParaRPr lang="en-US" dirty="0"/>
          </a:p>
          <a:p>
            <a:pPr marL="285750" indent="-285750">
              <a:buChar char="•"/>
            </a:pPr>
            <a:r>
              <a:rPr lang="en-US" sz="1600" b="1"/>
              <a:t>Doubt Resolution Agent</a:t>
            </a:r>
            <a:r>
              <a:rPr lang="en-US" sz="1600" dirty="0"/>
              <a:t> detects confusion and simplifies responses further; </a:t>
            </a:r>
            <a:endParaRPr lang="en-US"/>
          </a:p>
          <a:p>
            <a:pPr marL="285750" indent="-285750">
              <a:buChar char="•"/>
            </a:pPr>
            <a:r>
              <a:rPr lang="en-US" sz="1600" b="1"/>
              <a:t>Quiz Agent</a:t>
            </a:r>
            <a:r>
              <a:rPr lang="en-US" sz="1600" dirty="0"/>
              <a:t> generates MCQ tests and provides scored feedback; and </a:t>
            </a:r>
            <a:endParaRPr lang="en-US"/>
          </a:p>
          <a:p>
            <a:pPr marL="285750" indent="-285750">
              <a:buChar char="•"/>
            </a:pPr>
            <a:r>
              <a:rPr lang="en-US" sz="1600" b="1"/>
              <a:t>Revision Agent</a:t>
            </a:r>
            <a:r>
              <a:rPr lang="en-US" sz="1600" dirty="0"/>
              <a:t> creates key points, exam keywords, and important questions.</a:t>
            </a:r>
            <a:endParaRPr lang="en-US"/>
          </a:p>
          <a:p>
            <a:r>
              <a:rPr lang="en-US" sz="1600"/>
              <a:t>The student first selects their education level (6th Class to Advanced) and learning style (step-by-step, visual, exam-focused, etc.). The system then</a:t>
            </a:r>
            <a:r>
              <a:rPr lang="en-US" sz="1600" b="1">
                <a:latin typeface="Calibri"/>
                <a:ea typeface="Calibri"/>
                <a:cs typeface="Calibri"/>
              </a:rPr>
              <a:t> retrieves</a:t>
            </a:r>
            <a:r>
              <a:rPr lang="en-US" sz="1600"/>
              <a:t> relevant educational context and generates structured explanations covering why the concept exists, what it is, </a:t>
            </a:r>
            <a:r>
              <a:rPr lang="en-US" sz="1600" b="1"/>
              <a:t>real-world examples, key revision points, and exam keywords.</a:t>
            </a:r>
            <a:endParaRPr lang="en-US" sz="1600" b="1" dirty="0"/>
          </a:p>
          <a:p>
            <a:r>
              <a:rPr lang="en-US" sz="1600" dirty="0"/>
              <a:t>The frontend is built with </a:t>
            </a:r>
            <a:r>
              <a:rPr lang="en-US" sz="1600" dirty="0" err="1"/>
              <a:t>Streamlit</a:t>
            </a:r>
            <a:r>
              <a:rPr lang="en-US" sz="1600" dirty="0"/>
              <a:t>, providing an interactive learning interface with doubt solving, quizzes, revision notes, and PDF export. </a:t>
            </a:r>
            <a:r>
              <a:rPr lang="en-US" sz="1600" b="1" dirty="0"/>
              <a:t>IBM Granite 4</a:t>
            </a:r>
            <a:r>
              <a:rPr lang="en-US" sz="1600" dirty="0"/>
              <a:t> powers all reasoning, explanation generation, simplification, and quiz creation. This delivers an end-to-end intelligent educational assistant that makes learning personalized, adaptive, and exam-ready.</a:t>
            </a:r>
          </a:p>
          <a:p>
            <a:endParaRPr lang="en-US" b="1" dirty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component Used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49552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dirty="0"/>
          </a:p>
          <a:p>
            <a:r>
              <a:rPr lang="en-US" sz="1600" b="1"/>
              <a:t>1) Chat Input</a:t>
            </a:r>
            <a:r>
              <a:rPr lang="en-US" sz="1600"/>
              <a:t> — Interface where students enter their topic, doubt, or quiz request.</a:t>
            </a:r>
            <a:endParaRPr lang="en-US" sz="1600" dirty="0"/>
          </a:p>
          <a:p>
            <a:r>
              <a:rPr lang="en-US" sz="1600" b="1" dirty="0"/>
              <a:t>2) IBM </a:t>
            </a:r>
            <a:r>
              <a:rPr lang="en-US" sz="1600" b="1" dirty="0" err="1"/>
              <a:t>Watsonx</a:t>
            </a:r>
            <a:r>
              <a:rPr lang="en-US" sz="1600" b="1" dirty="0"/>
              <a:t> AI Agent</a:t>
            </a:r>
            <a:r>
              <a:rPr lang="en-US" sz="1600" dirty="0"/>
              <a:t> — Processes student input using IBM Granite 4 to generate adaptive educational explanations and quiz questions.</a:t>
            </a:r>
          </a:p>
          <a:p>
            <a:r>
              <a:rPr lang="en-US" sz="1600" b="1" dirty="0"/>
              <a:t>3) IBM Granite Model Used</a:t>
            </a:r>
            <a:r>
              <a:rPr lang="en-US" sz="1600" dirty="0"/>
              <a:t> — </a:t>
            </a:r>
            <a:r>
              <a:rPr lang="en-US" sz="1600" dirty="0" err="1"/>
              <a:t>ibm</a:t>
            </a:r>
            <a:r>
              <a:rPr lang="en-US" sz="1600" dirty="0"/>
              <a:t>/granite-4-h-small → Fast, efficient for real-time adaptive educational response generation.</a:t>
            </a:r>
          </a:p>
          <a:p>
            <a:r>
              <a:rPr lang="en-US" sz="1600" b="1"/>
              <a:t>4) Chat Output</a:t>
            </a:r>
            <a:r>
              <a:rPr lang="en-US" sz="1600"/>
              <a:t> — Displays AI-generated structured explanations, MCQ quizzes, doubt answers, and revision notes.</a:t>
            </a:r>
            <a:endParaRPr lang="en-US" sz="1600" dirty="0"/>
          </a:p>
          <a:p>
            <a:r>
              <a:rPr lang="en-US" sz="1600" b="1" dirty="0"/>
              <a:t>5) File Component</a:t>
            </a:r>
            <a:r>
              <a:rPr lang="en-US" sz="1600" dirty="0"/>
              <a:t> — Stores and retrieves student session data, uploaded PDFs, and </a:t>
            </a:r>
            <a:r>
              <a:rPr lang="en-US" sz="1600" dirty="0" err="1"/>
              <a:t>ChromaDB</a:t>
            </a:r>
            <a:r>
              <a:rPr lang="en-US" sz="1600" dirty="0"/>
              <a:t> vector embeddings for RAG retrieval.</a:t>
            </a:r>
          </a:p>
          <a:p>
            <a:r>
              <a:rPr lang="en-US" sz="1600" b="1"/>
              <a:t>6) Prompt Template Component</a:t>
            </a:r>
            <a:r>
              <a:rPr lang="en-US" sz="1600"/>
              <a:t> — Constructs level-aware and style-aware system prompts dynamically based on the student's selected profile before passing to Granite.</a:t>
            </a:r>
          </a:p>
          <a:p>
            <a:endParaRPr lang="en-US" dirty="0"/>
          </a:p>
          <a:p>
            <a:pPr marL="342900" indent="-342900">
              <a:buAutoNum type="arabicParenR" startAt="3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workflow -</a:t>
            </a:r>
            <a:endParaRPr sz="2400" b="1" dirty="0">
              <a:sym typeface="Times New Roman"/>
            </a:endParaRPr>
          </a:p>
        </p:txBody>
      </p:sp>
      <p:pic>
        <p:nvPicPr>
          <p:cNvPr id="4" name="Picture 3" descr="A diagram of a student interaction workflow&#10;&#10;AI-generated content may be incorrect.">
            <a:extLst>
              <a:ext uri="{FF2B5EF4-FFF2-40B4-BE49-F238E27FC236}">
                <a16:creationId xmlns:a16="http://schemas.microsoft.com/office/drawing/2014/main" id="{17DCAC4B-18B2-3147-58F1-277954267B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623" b="10870"/>
          <a:stretch>
            <a:fillRect/>
          </a:stretch>
        </p:blipFill>
        <p:spPr>
          <a:xfrm>
            <a:off x="0" y="1474284"/>
            <a:ext cx="12192000" cy="23274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DA6C47-F2D9-437A-ACBB-CB929B48B9BA}"/>
              </a:ext>
            </a:extLst>
          </p:cNvPr>
          <p:cNvSpPr txBox="1"/>
          <p:nvPr/>
        </p:nvSpPr>
        <p:spPr>
          <a:xfrm>
            <a:off x="785049" y="4318054"/>
            <a:ext cx="8346084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 err="1"/>
              <a:t>EduBot</a:t>
            </a:r>
            <a:r>
              <a:rPr lang="en-US" sz="1800" dirty="0"/>
              <a:t> follows a </a:t>
            </a:r>
            <a:r>
              <a:rPr lang="en-US" sz="1800" b="1" dirty="0" err="1"/>
              <a:t>Langflow</a:t>
            </a:r>
            <a:r>
              <a:rPr lang="en-US" sz="1800" dirty="0"/>
              <a:t>-style AI workflow integrating: </a:t>
            </a:r>
          </a:p>
          <a:p>
            <a:r>
              <a:rPr lang="en-US" sz="1800"/>
              <a:t>- adaptive prompting, </a:t>
            </a:r>
            <a:endParaRPr lang="en-US" sz="1800" dirty="0"/>
          </a:p>
          <a:p>
            <a:r>
              <a:rPr lang="en-US" sz="1800"/>
              <a:t>- RAG retrieval, </a:t>
            </a:r>
            <a:endParaRPr lang="en-US" sz="1800" dirty="0"/>
          </a:p>
          <a:p>
            <a:r>
              <a:rPr lang="en-US" sz="1800"/>
              <a:t>- IBM </a:t>
            </a:r>
            <a:r>
              <a:rPr lang="en-US" sz="1800" dirty="0"/>
              <a:t>Granite reasoning, </a:t>
            </a:r>
          </a:p>
          <a:p>
            <a:r>
              <a:rPr lang="en-US" sz="1800"/>
              <a:t>- contextual educational generation, </a:t>
            </a:r>
            <a:endParaRPr lang="en-US" sz="1800" dirty="0"/>
          </a:p>
          <a:p>
            <a:r>
              <a:rPr lang="en-US" sz="1800"/>
              <a:t>- and interactive learning modules.</a:t>
            </a:r>
          </a:p>
        </p:txBody>
      </p:sp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lang="en-US" sz="240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90E695E-8D59-F635-0DF3-E17F1BBD4A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7863" y="564109"/>
            <a:ext cx="11025289" cy="70718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47397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/>
              <a:t>Agentic AI enables </a:t>
            </a:r>
            <a:r>
              <a:rPr lang="en-US" sz="1600" err="1"/>
              <a:t>EduBot</a:t>
            </a:r>
            <a:r>
              <a:rPr lang="en-US" sz="1600"/>
              <a:t> to function as an intelligent, </a:t>
            </a:r>
            <a:r>
              <a:rPr lang="en-US" sz="1600" b="1"/>
              <a:t>autonomous educational assistant</a:t>
            </a:r>
            <a:r>
              <a:rPr lang="en-US" sz="1600"/>
              <a:t> rather than a simple question-answering chatbot. Using </a:t>
            </a:r>
            <a:r>
              <a:rPr lang="en-US" sz="1600" b="1"/>
              <a:t>IBM Watsonx.ai and IBM Granite 4</a:t>
            </a:r>
            <a:r>
              <a:rPr lang="en-US" sz="1600"/>
              <a:t>, </a:t>
            </a:r>
            <a:r>
              <a:rPr lang="en-US" sz="1600" err="1"/>
              <a:t>EduBot</a:t>
            </a:r>
            <a:r>
              <a:rPr lang="en-US" sz="1600"/>
              <a:t> coordinates multiple specialized agents to deliver personalized learning experiences.</a:t>
            </a:r>
          </a:p>
          <a:p>
            <a:r>
              <a:rPr lang="en-US" sz="1600"/>
              <a:t>Each agent performs a specific role — the Explanation Agent </a:t>
            </a:r>
            <a:r>
              <a:rPr lang="en-US" sz="1600" b="1"/>
              <a:t>adapts</a:t>
            </a:r>
            <a:r>
              <a:rPr lang="en-US" sz="1600"/>
              <a:t> concept teaching to student level, the Doubt Agent detects confusion and </a:t>
            </a:r>
            <a:r>
              <a:rPr lang="en-US" sz="1600" b="1"/>
              <a:t>simplifies</a:t>
            </a:r>
            <a:r>
              <a:rPr lang="en-US" sz="1600"/>
              <a:t> further, the Quiz Agent </a:t>
            </a:r>
            <a:r>
              <a:rPr lang="en-US" sz="1600" b="1"/>
              <a:t>generates and scores</a:t>
            </a:r>
            <a:r>
              <a:rPr lang="en-US" sz="1600"/>
              <a:t> MCQ tests, and the Revision Agent creates </a:t>
            </a:r>
            <a:r>
              <a:rPr lang="en-US" sz="1600" b="1"/>
              <a:t>exam-ready summaries</a:t>
            </a:r>
            <a:r>
              <a:rPr lang="en-US" sz="1600"/>
              <a:t>. These agents work collaboratively to deliver a complete learning session.</a:t>
            </a:r>
          </a:p>
          <a:p>
            <a:r>
              <a:rPr lang="en-US" sz="1600"/>
              <a:t>Agentic AI also brings context awareness to </a:t>
            </a:r>
            <a:r>
              <a:rPr lang="en-US" sz="1600" err="1"/>
              <a:t>EduBot</a:t>
            </a:r>
            <a:r>
              <a:rPr lang="en-US" sz="1600"/>
              <a:t>. The system understands student details like education level, learning style, and quiz performance history to generate tailored recommendations. It continuously</a:t>
            </a:r>
            <a:r>
              <a:rPr lang="en-US" sz="1600" b="1"/>
              <a:t> adapts </a:t>
            </a:r>
            <a:r>
              <a:rPr lang="en-US" sz="1600"/>
              <a:t>explanations based on student responses and confusion signals.</a:t>
            </a:r>
          </a:p>
          <a:p>
            <a:r>
              <a:rPr lang="en-US" sz="1600"/>
              <a:t>Additionally, agents share </a:t>
            </a:r>
            <a:r>
              <a:rPr lang="en-US" sz="1600" b="1"/>
              <a:t>session memory</a:t>
            </a:r>
            <a:r>
              <a:rPr lang="en-US" sz="1600"/>
              <a:t> — quiz scores, weak areas, and topic history — enabling better decisions across the entire learning interaction.</a:t>
            </a:r>
          </a:p>
          <a:p>
            <a:r>
              <a:rPr lang="en-US" sz="1600"/>
              <a:t>Overall, Agentic AI makes </a:t>
            </a:r>
            <a:r>
              <a:rPr lang="en-US" sz="1600" err="1"/>
              <a:t>EduBot</a:t>
            </a:r>
            <a:r>
              <a:rPr lang="en-US" sz="1600"/>
              <a:t> proactive, personalized, and goal-driven, acting like a </a:t>
            </a:r>
            <a:r>
              <a:rPr lang="en-US" sz="1600" b="1"/>
              <a:t>smart digital teacher </a:t>
            </a:r>
            <a:r>
              <a:rPr lang="en-US" sz="1600"/>
              <a:t>that helps students</a:t>
            </a:r>
            <a:r>
              <a:rPr lang="en-US" sz="1600" b="1" dirty="0"/>
              <a:t> </a:t>
            </a:r>
            <a:r>
              <a:rPr lang="en-US" sz="1600" b="1"/>
              <a:t>truly understand</a:t>
            </a:r>
            <a:r>
              <a:rPr lang="en-US" sz="1600" dirty="0"/>
              <a:t> </a:t>
            </a:r>
            <a:r>
              <a:rPr lang="en-US" sz="1600"/>
              <a:t>concepts rather than just memorize them.</a:t>
            </a:r>
          </a:p>
          <a:p>
            <a:endParaRPr lang="en-US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579309F-916D-06D9-8927-6549728E23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920043"/>
              </p:ext>
            </p:extLst>
          </p:nvPr>
        </p:nvGraphicFramePr>
        <p:xfrm>
          <a:off x="1010844" y="1200048"/>
          <a:ext cx="10521855" cy="4907946"/>
        </p:xfrm>
        <a:graphic>
          <a:graphicData uri="http://schemas.openxmlformats.org/drawingml/2006/table">
            <a:tbl>
              <a:tblPr firstRow="1" bandRow="1"/>
              <a:tblGrid>
                <a:gridCol w="3957850">
                  <a:extLst>
                    <a:ext uri="{9D8B030D-6E8A-4147-A177-3AD203B41FA5}">
                      <a16:colId xmlns:a16="http://schemas.microsoft.com/office/drawing/2014/main" val="496308071"/>
                    </a:ext>
                  </a:extLst>
                </a:gridCol>
                <a:gridCol w="6564005">
                  <a:extLst>
                    <a:ext uri="{9D8B030D-6E8A-4147-A177-3AD203B41FA5}">
                      <a16:colId xmlns:a16="http://schemas.microsoft.com/office/drawing/2014/main" val="1702482868"/>
                    </a:ext>
                  </a:extLst>
                </a:gridCol>
              </a:tblGrid>
              <a:tr h="411635">
                <a:tc>
                  <a:txBody>
                    <a:bodyPr/>
                    <a:lstStyle/>
                    <a:p>
                      <a:r>
                        <a:rPr lang="en-US" sz="1600" b="1"/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Role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435162"/>
                  </a:ext>
                </a:extLst>
              </a:tr>
              <a:tr h="58578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 dirty="0">
                          <a:latin typeface="Arial"/>
                          <a:cs typeface="Arial"/>
                        </a:rPr>
                        <a:t>IBM Granite 4 (</a:t>
                      </a:r>
                      <a:r>
                        <a:rPr lang="en-US" sz="1400" b="1" i="0" u="none" strike="noStrike" noProof="0" dirty="0" err="1">
                          <a:latin typeface="Arial"/>
                          <a:cs typeface="Arial"/>
                        </a:rPr>
                        <a:t>ibm</a:t>
                      </a:r>
                      <a:r>
                        <a:rPr lang="en-US" sz="1400" b="1" i="0" u="none" strike="noStrike" noProof="0" dirty="0">
                          <a:latin typeface="Arial"/>
                          <a:cs typeface="Arial"/>
                        </a:rPr>
                        <a:t>/granite-4-h-small)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Core reasoning engine for explanation generation, quiz creation, doubt solving, and adaptive simplification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242140"/>
                  </a:ext>
                </a:extLst>
              </a:tr>
              <a:tr h="58578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IBM Watsonx.ai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Model deployment, API access, embeddings, and AI governance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7205746"/>
                  </a:ext>
                </a:extLst>
              </a:tr>
              <a:tr h="58578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IBM Cloud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Provides secure, scalable infrastructure for deploying </a:t>
                      </a:r>
                      <a:r>
                        <a:rPr lang="en-US" sz="1400" b="0" i="0" u="none" strike="noStrike" noProof="0" err="1">
                          <a:latin typeface="Arial"/>
                          <a:cs typeface="Arial"/>
                        </a:rPr>
                        <a:t>EduBot</a:t>
                      </a: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 reliably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9611818"/>
                  </a:ext>
                </a:extLst>
              </a:tr>
              <a:tr h="58578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 dirty="0" err="1"/>
                        <a:t>LangChain</a:t>
                      </a:r>
                      <a:endParaRPr lang="en-US" b="1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Orchestrates the RAG pipeline, prompt chaining, and agent coordination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188500"/>
                  </a:ext>
                </a:extLst>
              </a:tr>
              <a:tr h="585787">
                <a:tc>
                  <a:txBody>
                    <a:bodyPr/>
                    <a:lstStyle/>
                    <a:p>
                      <a:r>
                        <a:rPr lang="en-US" b="1"/>
                        <a:t>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Fetches trusted educational context before generating responses, improving accuracy and reducing hallucination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6618413"/>
                  </a:ext>
                </a:extLst>
              </a:tr>
              <a:tr h="58578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 dirty="0" err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ChromaDB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Vector</a:t>
                      </a:r>
                      <a:r>
                        <a:rPr lang="en-US" sz="1400" b="0" i="0" u="none" strike="noStrike" noProof="0" dirty="0">
                          <a:latin typeface="Arial"/>
                          <a:cs typeface="Arial"/>
                        </a:rPr>
                        <a:t> database storing educational content embeddings for fast contextual retrieval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486131"/>
                  </a:ext>
                </a:extLst>
              </a:tr>
              <a:tr h="49079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 dirty="0" err="1">
                          <a:latin typeface="Arial"/>
                          <a:cs typeface="Arial"/>
                        </a:rPr>
                        <a:t>Streamlit</a:t>
                      </a:r>
                      <a:endParaRPr lang="en-US" b="1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Interactive frontend for student interaction, quiz UI, and session management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2945639"/>
                  </a:ext>
                </a:extLst>
              </a:tr>
              <a:tr h="49079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 dirty="0" err="1"/>
                        <a:t>HuggingFace</a:t>
                      </a:r>
                      <a:r>
                        <a:rPr lang="en-US" sz="1400" b="1" i="0" u="none" strike="noStrike" noProof="0" dirty="0"/>
                        <a:t> Embeddings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/>
                        <a:t>Converts educational documents into vector embeddings for </a:t>
                      </a:r>
                      <a:r>
                        <a:rPr lang="en-US" sz="1400" b="0" i="0" u="none" strike="noStrike" noProof="0" err="1"/>
                        <a:t>ChromaDB</a:t>
                      </a:r>
                      <a:r>
                        <a:rPr lang="en-US" sz="1400" b="0" i="0" u="none" strike="noStrike" noProof="0"/>
                        <a:t> storage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916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0778820" cy="56276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IN" sz="1800" dirty="0" err="1"/>
              <a:t>EduBot</a:t>
            </a:r>
            <a:r>
              <a:rPr lang="en-IN" sz="1800" dirty="0"/>
              <a:t> stands out by combining Agentic AI, RAG, and adaptive educational intelligence into a single personalized learning system.</a:t>
            </a:r>
            <a:endParaRPr lang="en-US" dirty="0"/>
          </a:p>
          <a:p>
            <a:pPr algn="just"/>
            <a:r>
              <a:rPr lang="en-IN" sz="1800" b="1" dirty="0"/>
              <a:t>Adaptive Level-Based Teaching</a:t>
            </a:r>
            <a:r>
              <a:rPr lang="en-IN" sz="1800" dirty="0"/>
              <a:t> — Unlike static educational platforms, </a:t>
            </a:r>
            <a:r>
              <a:rPr lang="en-IN" sz="1800" dirty="0" err="1"/>
              <a:t>EduBot</a:t>
            </a:r>
            <a:r>
              <a:rPr lang="en-IN" sz="1800" dirty="0"/>
              <a:t> dynamically adjusts vocabulary, depth, and examples based on student level from 6th Class to Advanced.</a:t>
            </a:r>
            <a:endParaRPr lang="en-IN" dirty="0"/>
          </a:p>
          <a:p>
            <a:pPr algn="just"/>
            <a:r>
              <a:rPr lang="en-IN" sz="1800" b="1"/>
              <a:t>Learning Style Personalization</a:t>
            </a:r>
            <a:r>
              <a:rPr lang="en-IN" sz="1800"/>
              <a:t> — Supports five learning styles (step-by-step, visual, real-world, exam-focused, quick revision) for truly individualized teaching.</a:t>
            </a:r>
            <a:endParaRPr lang="en-IN"/>
          </a:p>
          <a:p>
            <a:pPr algn="just"/>
            <a:r>
              <a:rPr lang="en-IN" sz="1800" b="1"/>
              <a:t>RAG-Based Educational Accuracy</a:t>
            </a:r>
            <a:r>
              <a:rPr lang="en-IN" sz="1800"/>
              <a:t> — Integrates real-time retrieval with </a:t>
            </a:r>
            <a:r>
              <a:rPr lang="en-IN" sz="1800" b="1"/>
              <a:t>IBM Granite generation</a:t>
            </a:r>
            <a:r>
              <a:rPr lang="en-IN" sz="1800"/>
              <a:t>, reducing hallucinations and ensuring trusted, curriculum-aligned content.</a:t>
            </a:r>
            <a:endParaRPr lang="en-IN"/>
          </a:p>
          <a:p>
            <a:pPr algn="just"/>
            <a:r>
              <a:rPr lang="en-IN" sz="1800" b="1"/>
              <a:t>Structured Explanation Format</a:t>
            </a:r>
            <a:r>
              <a:rPr lang="en-IN" sz="1800"/>
              <a:t> — Every response follows a proven educational structure: why the concept exists, what it is, real-world examples, key revision points, and exam keywords.</a:t>
            </a:r>
            <a:endParaRPr lang="en-IN"/>
          </a:p>
          <a:p>
            <a:pPr algn="just"/>
            <a:r>
              <a:rPr lang="en-IN" sz="1800" b="1"/>
              <a:t>Interactive Learning Ecosystem</a:t>
            </a:r>
            <a:r>
              <a:rPr lang="en-IN" sz="1800"/>
              <a:t> — Combines doubt solving, MCQ quizzes with scoring, revision notes, and exam preparation in one unified platform.</a:t>
            </a:r>
            <a:endParaRPr lang="en-IN"/>
          </a:p>
          <a:p>
            <a:pPr algn="just"/>
            <a:r>
              <a:rPr lang="en-IN" sz="1800" b="1"/>
              <a:t>Confusion Detection Logic</a:t>
            </a:r>
            <a:r>
              <a:rPr lang="en-IN" sz="1800"/>
              <a:t> — Automatically simplifies further when repeated doubts are detected, mimicking a patient human teacher.</a:t>
            </a:r>
            <a:endParaRPr lang="en-IN"/>
          </a:p>
          <a:p>
            <a:pPr algn="just"/>
            <a:r>
              <a:rPr lang="en-IN" sz="1800" b="1"/>
              <a:t>Enterprise-Grade AI</a:t>
            </a:r>
            <a:r>
              <a:rPr lang="en-IN" sz="1800"/>
              <a:t> — Built on</a:t>
            </a:r>
            <a:r>
              <a:rPr lang="en-IN" sz="1800" b="1"/>
              <a:t> IBM Watsonx.ai with IBM Granite 4</a:t>
            </a:r>
            <a:r>
              <a:rPr lang="en-IN" sz="1800"/>
              <a:t>, ensuring reliability, governance, and scalable AI deployment.</a:t>
            </a:r>
            <a:endParaRPr lang="en-IN"/>
          </a:p>
          <a:p>
            <a:pPr algn="just"/>
            <a:endParaRPr lang="en-IN" sz="1800" dirty="0"/>
          </a:p>
          <a:p>
            <a:pPr algn="just"/>
            <a:r>
              <a:rPr lang="en-IN" sz="1800" dirty="0"/>
              <a:t>This makes </a:t>
            </a:r>
            <a:r>
              <a:rPr lang="en-IN" sz="1800" dirty="0" err="1"/>
              <a:t>EduBot</a:t>
            </a:r>
            <a:r>
              <a:rPr lang="en-IN" sz="1800" dirty="0"/>
              <a:t> a smart, adaptive, and proactive digital tutor — not just a generic chatbot.</a:t>
            </a:r>
            <a:endParaRPr lang="en-IN" dirty="0"/>
          </a:p>
          <a:p>
            <a:endParaRPr lang="en-IN" sz="1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Git Hub Link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975687-1FC4-6AE7-EF42-673C341B9D78}"/>
              </a:ext>
            </a:extLst>
          </p:cNvPr>
          <p:cNvSpPr txBox="1"/>
          <p:nvPr/>
        </p:nvSpPr>
        <p:spPr>
          <a:xfrm>
            <a:off x="597367" y="1177668"/>
            <a:ext cx="9318941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GITHUB LINK: </a:t>
            </a:r>
            <a:r>
              <a:rPr lang="en-US" sz="2000" dirty="0">
                <a:hlinkClick r:id="rId3"/>
              </a:rPr>
              <a:t>https://github.com/bharathivarma08-netizen/Course-Content-Simplification-Agent.git</a:t>
            </a:r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763799" y="1130731"/>
            <a:ext cx="10658967" cy="4925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/>
            <a:r>
              <a:rPr lang="en-US" sz="2000" b="1" dirty="0">
                <a:solidFill>
                  <a:srgbClr val="2B3541"/>
                </a:solidFill>
              </a:rPr>
              <a:t>1. Multilingual Support</a:t>
            </a:r>
            <a:r>
              <a:rPr lang="en-US" sz="2000" dirty="0">
                <a:solidFill>
                  <a:srgbClr val="2B3541"/>
                </a:solidFill>
              </a:rPr>
              <a:t> </a:t>
            </a:r>
            <a:r>
              <a:rPr lang="en-US" sz="2000" dirty="0" err="1">
                <a:solidFill>
                  <a:srgbClr val="2B3541"/>
                </a:solidFill>
              </a:rPr>
              <a:t>EduBot</a:t>
            </a:r>
            <a:r>
              <a:rPr lang="en-US" sz="2000" dirty="0">
                <a:solidFill>
                  <a:srgbClr val="2B3541"/>
                </a:solidFill>
              </a:rPr>
              <a:t> can be extended to support Telugu, Hindi, and other regional languages, making quality AI-powered education accessible to students across India who are more comfortable in their native language.</a:t>
            </a:r>
            <a:endParaRPr lang="en-US" sz="2000" dirty="0"/>
          </a:p>
          <a:p>
            <a:pPr algn="just"/>
            <a:r>
              <a:rPr lang="en-US" sz="2000" b="1">
                <a:solidFill>
                  <a:srgbClr val="2B3541"/>
                </a:solidFill>
              </a:rPr>
              <a:t>2. Mobile Application</a:t>
            </a:r>
            <a:r>
              <a:rPr lang="en-US" sz="2000">
                <a:solidFill>
                  <a:srgbClr val="2B3541"/>
                </a:solidFill>
              </a:rPr>
              <a:t> A dedicated mobile app will allow students to access adaptive learning, MCQ practice, and doubt solving anytime, anywhere — especially useful for rural and underserved student communities.</a:t>
            </a:r>
            <a:endParaRPr lang="en-US" sz="2000"/>
          </a:p>
          <a:p>
            <a:pPr algn="just"/>
            <a:r>
              <a:rPr lang="en-US" sz="2000" b="1">
                <a:solidFill>
                  <a:srgbClr val="2B3541"/>
                </a:solidFill>
              </a:rPr>
              <a:t>3. Advanced Learning Analytics Dashboard</a:t>
            </a:r>
            <a:r>
              <a:rPr lang="en-US" sz="2000">
                <a:solidFill>
                  <a:srgbClr val="2B3541"/>
                </a:solidFill>
              </a:rPr>
              <a:t> Integration of a detailed analytics dashboard to track topic mastery, quiz performance trends, weak areas, and study time — helping students and teachers make data-driven learning decisions.</a:t>
            </a:r>
            <a:endParaRPr lang="en-US" sz="2000"/>
          </a:p>
          <a:p>
            <a:pPr algn="just"/>
            <a:r>
              <a:rPr lang="en-US" sz="2000" b="1" dirty="0">
                <a:solidFill>
                  <a:srgbClr val="2B3541"/>
                </a:solidFill>
              </a:rPr>
              <a:t>4. PDF Notes Simplification</a:t>
            </a:r>
            <a:r>
              <a:rPr lang="en-US" sz="2000" dirty="0">
                <a:solidFill>
                  <a:srgbClr val="2B3541"/>
                </a:solidFill>
              </a:rPr>
              <a:t> Full support for uploading faculty notes and textbooks, with </a:t>
            </a:r>
            <a:r>
              <a:rPr lang="en-US" sz="2000" dirty="0" err="1">
                <a:solidFill>
                  <a:srgbClr val="2B3541"/>
                </a:solidFill>
              </a:rPr>
              <a:t>EduBot</a:t>
            </a:r>
            <a:r>
              <a:rPr lang="en-US" sz="2000" dirty="0">
                <a:solidFill>
                  <a:srgbClr val="2B3541"/>
                </a:solidFill>
              </a:rPr>
              <a:t> automatically simplifying the uploaded content and generating quizzes and revision notes from it.</a:t>
            </a:r>
            <a:endParaRPr lang="en-US" sz="2000" dirty="0"/>
          </a:p>
          <a:p>
            <a:pPr algn="just"/>
            <a:r>
              <a:rPr lang="en-US" sz="2000" b="1" dirty="0">
                <a:solidFill>
                  <a:srgbClr val="2B3541"/>
                </a:solidFill>
              </a:rPr>
              <a:t>5. Real-Time Collaborative Learning</a:t>
            </a:r>
            <a:r>
              <a:rPr lang="en-US" sz="2000" dirty="0">
                <a:solidFill>
                  <a:srgbClr val="2B3541"/>
                </a:solidFill>
              </a:rPr>
              <a:t> Enable classroom-level deployment where teachers can assign topics, monitor student progress, and review AI-generated explanations — bridging AI tutoring with traditional classroom teaching.</a:t>
            </a:r>
            <a:endParaRPr lang="en-US" sz="2000" dirty="0"/>
          </a:p>
          <a:p>
            <a:pPr marL="0" marR="0" lvl="0" indent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SzPts val="1850"/>
              <a:buFont typeface="Times New Roman"/>
              <a:buNone/>
            </a:pPr>
            <a:endParaRPr lang="en-US" sz="1850" b="1" i="0" u="none" strike="noStrike" cap="none" dirty="0">
              <a:solidFill>
                <a:srgbClr val="2B354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13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267</cp:revision>
  <dcterms:modified xsi:type="dcterms:W3CDTF">2026-06-03T15:47:13Z</dcterms:modified>
</cp:coreProperties>
</file>